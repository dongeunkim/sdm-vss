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27184A-7DAB-AD42-AD82-15E2B766C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D10704-F839-48EE-00E8-062A87EC9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F54F01-23BB-2824-84B6-CDFB08892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D76D-B360-496A-A351-93FDEF4FB60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801E5F-AA23-C846-7AC6-9617B650B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EA42C9-EA8D-84D9-F001-1949DF3C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A605-8DAC-49ED-BB52-027DED3F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200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8C130-B51F-C0AE-4FF4-75435E8D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225628-D730-BD1E-C31D-602920451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1D779B-80E5-BC32-40E8-7CE3D4A0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D76D-B360-496A-A351-93FDEF4FB60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2F0A1A-5F46-2F01-6D2F-C808DDF2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2E6DF4-D30C-D1CA-DC75-27AC7D5F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A605-8DAC-49ED-BB52-027DED3F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813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3DBC5-1708-E3CF-5BA1-C7950B29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ACACC1-0640-0086-A7FB-1CBCB4C48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212A1D-CE87-7AFA-3057-034E0F216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D76D-B360-496A-A351-93FDEF4FB60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DE3379-3C4A-A65A-1888-B88E8E53F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23CDEF-FEEE-D6DE-B94A-F5A9DC96D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A605-8DAC-49ED-BB52-027DED3F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159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22645-0AC5-ECDB-1815-9B33287F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50944D-C770-4FCB-7F52-AE77C0AA5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13497C-0B3D-4508-C9FE-D1E8CA7E4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24F923-F6E9-073A-6EFC-57B171CC7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D76D-B360-496A-A351-93FDEF4FB60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477439-125A-01EB-E51A-9B77396E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7CED2A-E68B-3004-5882-63AB82B3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A605-8DAC-49ED-BB52-027DED3F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64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F9A15-3B7F-07CA-BD4B-F2DAAC82A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389C35-A8ED-5A76-F78C-A00FF5F6A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840D96-12C6-1B24-C264-2258FCAB2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67C71C-8AD8-31AD-83DA-6E1C975F2B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16E265-5EE9-6A23-A8AD-A921A3CDB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3B2F78-4840-457D-300E-DB432FE0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D76D-B360-496A-A351-93FDEF4FB60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1C5E4AC-6043-DFDB-4AEF-905D60DE5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19786F-FD76-3F7A-11BE-E9DF4B287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A605-8DAC-49ED-BB52-027DED3F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546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6280A-8E4A-5A27-208A-2E0676B3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6CFCDA-ED70-83A6-726E-E43569ED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D76D-B360-496A-A351-93FDEF4FB60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21D78A-0B21-AC32-1F07-7EF6EA1B3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18B6CF-1C14-DC99-13E7-042A64FE0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A605-8DAC-49ED-BB52-027DED3F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773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2502DF-14AE-9679-FC74-8EE13EA6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D76D-B360-496A-A351-93FDEF4FB60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7A19E5-13F3-BC8A-585E-72EC589C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D34101-F2FC-BBE9-EA5A-B4202D5D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A605-8DAC-49ED-BB52-027DED3F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97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05ADD3-6E39-1ABE-C32F-D55CBF751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D9A577-EEE2-9171-D71C-4B6A8A681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1976CF-2153-4BD1-EC0D-C4D1F4B49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270960-4541-93C9-408C-6E950D84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D76D-B360-496A-A351-93FDEF4FB60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D69DF5-1CF3-442F-2E9E-E9679761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D0B580-D291-A83A-E55B-40BB98B01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A605-8DAC-49ED-BB52-027DED3F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189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711688-486C-22BF-1465-ABBABE588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444978-433A-D4D6-907A-F3AD96843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5D9848-98B9-69E3-1069-80E48C8DC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5FA9F0-5DD2-AC22-E2B3-C0160598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D76D-B360-496A-A351-93FDEF4FB60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E69782-4FED-DD7D-1C26-261BE8047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B9B455-5BA7-97D0-026D-236D4E20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A605-8DAC-49ED-BB52-027DED3F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83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BD0D9-4B94-C2C5-AB5C-FD19A6245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523F83-C098-FDB3-F94F-1871E4079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C9E05D-2501-AAAB-B569-E55D0CD6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D76D-B360-496A-A351-93FDEF4FB60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CCB33F-7B86-85A3-85F7-0A728C5F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3DE8A-9AC2-9D16-5F69-39143E0C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A605-8DAC-49ED-BB52-027DED3F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438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91FDA1-6A21-6A34-CF05-29AFE5623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8A894F-87C3-5D47-1AFB-322942F25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F466BA-FBEB-284A-82A0-17D1BBEA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AD76D-B360-496A-A351-93FDEF4FB60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C65165-88F5-9BA5-55FE-9EADCBE65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BA14EC-4C64-E10F-52D1-E08FF0316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2A605-8DAC-49ED-BB52-027DED3F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55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E69B4F-E8EA-C32D-C68F-8B7B714A3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3FACAD-5A1F-E808-42E4-26215DE2E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D02A5E-29BD-7E68-1278-D0C4942A3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AD76D-B360-496A-A351-93FDEF4FB60E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FB51EF-E00C-BF40-1035-910C60FB2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4BCCFA-E18B-0643-BFD5-4262A419A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2A605-8DAC-49ED-BB52-027DED3F17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42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0AC0243-C0D5-1FDC-BABB-09AA56EC9789}"/>
              </a:ext>
            </a:extLst>
          </p:cNvPr>
          <p:cNvSpPr/>
          <p:nvPr/>
        </p:nvSpPr>
        <p:spPr>
          <a:xfrm>
            <a:off x="595983" y="3027285"/>
            <a:ext cx="9722424" cy="29649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&lt; TGU &gt;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EC221D-9289-0F34-7262-FEEB82CF2AC4}"/>
              </a:ext>
            </a:extLst>
          </p:cNvPr>
          <p:cNvSpPr/>
          <p:nvPr/>
        </p:nvSpPr>
        <p:spPr>
          <a:xfrm>
            <a:off x="1162974" y="3429000"/>
            <a:ext cx="3194234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D Medium" panose="020B0600000101010101" pitchFamily="34" charset="-127"/>
                <a:ea typeface="HD Medium" panose="020B0600000101010101" pitchFamily="34" charset="-127"/>
              </a:rPr>
              <a:t>VISSv3 Server</a:t>
            </a:r>
            <a:endParaRPr lang="ko-KR" altLang="en-US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1E989E-D227-73E0-FED1-93E0DD3C6BF6}"/>
              </a:ext>
            </a:extLst>
          </p:cNvPr>
          <p:cNvSpPr/>
          <p:nvPr/>
        </p:nvSpPr>
        <p:spPr>
          <a:xfrm>
            <a:off x="4990978" y="3429000"/>
            <a:ext cx="3194233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D Medium" panose="020B0600000101010101" pitchFamily="34" charset="-127"/>
                <a:ea typeface="HD Medium" panose="020B0600000101010101" pitchFamily="34" charset="-127"/>
              </a:rPr>
              <a:t>Local Consumer</a:t>
            </a:r>
            <a:br>
              <a:rPr lang="en-US" altLang="ko-KR" dirty="0">
                <a:latin typeface="HD Medium" panose="020B0600000101010101" pitchFamily="34" charset="-127"/>
                <a:ea typeface="HD Medium" panose="020B0600000101010101" pitchFamily="34" charset="-127"/>
              </a:rPr>
            </a:br>
            <a:r>
              <a:rPr lang="en-US" altLang="ko-KR" sz="1100" dirty="0">
                <a:latin typeface="HD Medium" panose="020B0600000101010101" pitchFamily="34" charset="-127"/>
                <a:ea typeface="HD Medium" panose="020B0600000101010101" pitchFamily="34" charset="-127"/>
              </a:rPr>
              <a:t>(AWS Greengrass Components)</a:t>
            </a:r>
            <a:endParaRPr lang="en-US" altLang="ko-KR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5D98C3-9067-988B-E4FE-91C2E5537275}"/>
              </a:ext>
            </a:extLst>
          </p:cNvPr>
          <p:cNvSpPr/>
          <p:nvPr/>
        </p:nvSpPr>
        <p:spPr>
          <a:xfrm>
            <a:off x="1162974" y="4343400"/>
            <a:ext cx="7022237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Kuksa-Databroker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EC26A02-F5AE-5077-B1B8-65D54A71D58A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760091" y="3939655"/>
            <a:ext cx="0" cy="403745"/>
          </a:xfrm>
          <a:prstGeom prst="line">
            <a:avLst/>
          </a:prstGeom>
          <a:ln w="571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7EC6587-9333-8C0C-780D-DE5EF966EA41}"/>
              </a:ext>
            </a:extLst>
          </p:cNvPr>
          <p:cNvSpPr txBox="1"/>
          <p:nvPr/>
        </p:nvSpPr>
        <p:spPr>
          <a:xfrm>
            <a:off x="2818392" y="3987638"/>
            <a:ext cx="643125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i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ko-KR" altLang="en-US" sz="1400" b="1" i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413D573-E06F-D5C8-B747-99A85E3BAF8A}"/>
              </a:ext>
            </a:extLst>
          </p:cNvPr>
          <p:cNvCxnSpPr>
            <a:cxnSpLocks/>
          </p:cNvCxnSpPr>
          <p:nvPr/>
        </p:nvCxnSpPr>
        <p:spPr>
          <a:xfrm>
            <a:off x="6740419" y="3939655"/>
            <a:ext cx="0" cy="4037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CAF268-11A2-4417-7344-C46FD31FC814}"/>
              </a:ext>
            </a:extLst>
          </p:cNvPr>
          <p:cNvSpPr txBox="1"/>
          <p:nvPr/>
        </p:nvSpPr>
        <p:spPr>
          <a:xfrm>
            <a:off x="6780005" y="3987638"/>
            <a:ext cx="63991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CE6985-A289-F53A-138F-4EEF694A04B1}"/>
              </a:ext>
            </a:extLst>
          </p:cNvPr>
          <p:cNvSpPr/>
          <p:nvPr/>
        </p:nvSpPr>
        <p:spPr>
          <a:xfrm>
            <a:off x="1162975" y="5257800"/>
            <a:ext cx="1957890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J1939-Provider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85CBF50-C7CB-6F65-439B-442A6C0BA12C}"/>
              </a:ext>
            </a:extLst>
          </p:cNvPr>
          <p:cNvSpPr/>
          <p:nvPr/>
        </p:nvSpPr>
        <p:spPr>
          <a:xfrm>
            <a:off x="3695148" y="5257800"/>
            <a:ext cx="1957890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UDS-Provider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B635F3-607C-8620-8489-F401F184CEE5}"/>
              </a:ext>
            </a:extLst>
          </p:cNvPr>
          <p:cNvSpPr/>
          <p:nvPr/>
        </p:nvSpPr>
        <p:spPr>
          <a:xfrm>
            <a:off x="6227321" y="5257800"/>
            <a:ext cx="1957890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DDS-Provider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9EF3870-9F0F-D45C-7DA6-7EA7052CC0A2}"/>
              </a:ext>
            </a:extLst>
          </p:cNvPr>
          <p:cNvCxnSpPr>
            <a:cxnSpLocks/>
          </p:cNvCxnSpPr>
          <p:nvPr/>
        </p:nvCxnSpPr>
        <p:spPr>
          <a:xfrm>
            <a:off x="2148396" y="4865513"/>
            <a:ext cx="0" cy="4037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6A17CF3-5400-4E89-7905-7E25F52EEE33}"/>
              </a:ext>
            </a:extLst>
          </p:cNvPr>
          <p:cNvSpPr txBox="1"/>
          <p:nvPr/>
        </p:nvSpPr>
        <p:spPr>
          <a:xfrm>
            <a:off x="2187982" y="4913496"/>
            <a:ext cx="63991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525C31B-57DD-2484-06F2-4D12C3887144}"/>
              </a:ext>
            </a:extLst>
          </p:cNvPr>
          <p:cNvCxnSpPr>
            <a:cxnSpLocks/>
          </p:cNvCxnSpPr>
          <p:nvPr/>
        </p:nvCxnSpPr>
        <p:spPr>
          <a:xfrm>
            <a:off x="4740314" y="4865513"/>
            <a:ext cx="0" cy="4037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CE6EC9E-1002-1C28-8022-354AFACEC3D1}"/>
              </a:ext>
            </a:extLst>
          </p:cNvPr>
          <p:cNvSpPr txBox="1"/>
          <p:nvPr/>
        </p:nvSpPr>
        <p:spPr>
          <a:xfrm>
            <a:off x="4779900" y="4913496"/>
            <a:ext cx="63991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5A37827-E861-E8E0-EBD1-4A9A16E16AAF}"/>
              </a:ext>
            </a:extLst>
          </p:cNvPr>
          <p:cNvCxnSpPr>
            <a:cxnSpLocks/>
          </p:cNvCxnSpPr>
          <p:nvPr/>
        </p:nvCxnSpPr>
        <p:spPr>
          <a:xfrm>
            <a:off x="7209562" y="4865513"/>
            <a:ext cx="0" cy="4037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5C63470-8ADB-7B5C-122E-31F9D75C3D72}"/>
              </a:ext>
            </a:extLst>
          </p:cNvPr>
          <p:cNvSpPr txBox="1"/>
          <p:nvPr/>
        </p:nvSpPr>
        <p:spPr>
          <a:xfrm>
            <a:off x="7265648" y="4913496"/>
            <a:ext cx="63991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942B4BB-6FBE-DA5E-25D5-E9CA10DC590B}"/>
              </a:ext>
            </a:extLst>
          </p:cNvPr>
          <p:cNvSpPr/>
          <p:nvPr/>
        </p:nvSpPr>
        <p:spPr>
          <a:xfrm>
            <a:off x="3120864" y="1889102"/>
            <a:ext cx="4070048" cy="5433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&lt; AWS IoT Core &gt;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BE1BC76-FE13-5135-505E-AB930BAD0DEC}"/>
              </a:ext>
            </a:extLst>
          </p:cNvPr>
          <p:cNvSpPr/>
          <p:nvPr/>
        </p:nvSpPr>
        <p:spPr>
          <a:xfrm>
            <a:off x="595980" y="817855"/>
            <a:ext cx="7589231" cy="5433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&lt; VISSv3 API Gateway &gt;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817B816-F11C-0C7A-4A0A-FDE646A55F83}"/>
              </a:ext>
            </a:extLst>
          </p:cNvPr>
          <p:cNvCxnSpPr>
            <a:cxnSpLocks/>
          </p:cNvCxnSpPr>
          <p:nvPr/>
        </p:nvCxnSpPr>
        <p:spPr>
          <a:xfrm>
            <a:off x="6740419" y="2432482"/>
            <a:ext cx="0" cy="9965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FE03847-180C-E9A9-540B-F44FC1126434}"/>
              </a:ext>
            </a:extLst>
          </p:cNvPr>
          <p:cNvSpPr txBox="1"/>
          <p:nvPr/>
        </p:nvSpPr>
        <p:spPr>
          <a:xfrm>
            <a:off x="6780005" y="2575995"/>
            <a:ext cx="701602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MQTT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C86664B-F8F9-6F28-D8A5-CB426557790F}"/>
              </a:ext>
            </a:extLst>
          </p:cNvPr>
          <p:cNvCxnSpPr>
            <a:cxnSpLocks/>
          </p:cNvCxnSpPr>
          <p:nvPr/>
        </p:nvCxnSpPr>
        <p:spPr>
          <a:xfrm>
            <a:off x="3480046" y="2432482"/>
            <a:ext cx="0" cy="9965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C8CA851-DFBD-E77F-86A2-19652F88D23E}"/>
              </a:ext>
            </a:extLst>
          </p:cNvPr>
          <p:cNvSpPr txBox="1"/>
          <p:nvPr/>
        </p:nvSpPr>
        <p:spPr>
          <a:xfrm>
            <a:off x="3519632" y="2575995"/>
            <a:ext cx="701602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MQTT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FDB93C7E-4433-47B8-AB06-0D7384873A1D}"/>
              </a:ext>
            </a:extLst>
          </p:cNvPr>
          <p:cNvCxnSpPr>
            <a:cxnSpLocks/>
          </p:cNvCxnSpPr>
          <p:nvPr/>
        </p:nvCxnSpPr>
        <p:spPr>
          <a:xfrm>
            <a:off x="3480046" y="1355883"/>
            <a:ext cx="0" cy="5332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6A128EB-C687-95F6-18B2-360B63F44146}"/>
              </a:ext>
            </a:extLst>
          </p:cNvPr>
          <p:cNvSpPr txBox="1"/>
          <p:nvPr/>
        </p:nvSpPr>
        <p:spPr>
          <a:xfrm>
            <a:off x="3519632" y="1499396"/>
            <a:ext cx="701602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MQTT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394C847-9633-2025-DC24-3BA3338ACC1C}"/>
              </a:ext>
            </a:extLst>
          </p:cNvPr>
          <p:cNvCxnSpPr>
            <a:cxnSpLocks/>
          </p:cNvCxnSpPr>
          <p:nvPr/>
        </p:nvCxnSpPr>
        <p:spPr>
          <a:xfrm>
            <a:off x="2440245" y="1355883"/>
            <a:ext cx="0" cy="207311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D627FB4-4C36-92AE-2FAC-A54533B84205}"/>
              </a:ext>
            </a:extLst>
          </p:cNvPr>
          <p:cNvSpPr txBox="1"/>
          <p:nvPr/>
        </p:nvSpPr>
        <p:spPr>
          <a:xfrm>
            <a:off x="2479831" y="1499396"/>
            <a:ext cx="56778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WSS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42A342B9-9134-BF5D-81E5-647A4A64B0B0}"/>
              </a:ext>
            </a:extLst>
          </p:cNvPr>
          <p:cNvCxnSpPr>
            <a:cxnSpLocks/>
          </p:cNvCxnSpPr>
          <p:nvPr/>
        </p:nvCxnSpPr>
        <p:spPr>
          <a:xfrm>
            <a:off x="1445946" y="1355883"/>
            <a:ext cx="0" cy="207311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DCFE2FF-EE6B-7FC1-B25D-D3804DD5B177}"/>
              </a:ext>
            </a:extLst>
          </p:cNvPr>
          <p:cNvSpPr txBox="1"/>
          <p:nvPr/>
        </p:nvSpPr>
        <p:spPr>
          <a:xfrm>
            <a:off x="1485532" y="1499396"/>
            <a:ext cx="639919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A82D78D-CAF4-1675-2A02-B67CED282A13}"/>
              </a:ext>
            </a:extLst>
          </p:cNvPr>
          <p:cNvSpPr/>
          <p:nvPr/>
        </p:nvSpPr>
        <p:spPr>
          <a:xfrm>
            <a:off x="8292000" y="817855"/>
            <a:ext cx="2026407" cy="5433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Gateway Servers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F2207E30-44E6-CC61-2A6A-A6B1DC52A22F}"/>
              </a:ext>
            </a:extLst>
          </p:cNvPr>
          <p:cNvCxnSpPr>
            <a:cxnSpLocks/>
            <a:stCxn id="6" idx="3"/>
            <a:endCxn id="56" idx="2"/>
          </p:cNvCxnSpPr>
          <p:nvPr/>
        </p:nvCxnSpPr>
        <p:spPr>
          <a:xfrm flipV="1">
            <a:off x="8185211" y="1361235"/>
            <a:ext cx="1119993" cy="2323093"/>
          </a:xfrm>
          <a:prstGeom prst="bentConnector2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E084382-9851-B099-1E62-43BA6413075F}"/>
              </a:ext>
            </a:extLst>
          </p:cNvPr>
          <p:cNvSpPr txBox="1"/>
          <p:nvPr/>
        </p:nvSpPr>
        <p:spPr>
          <a:xfrm>
            <a:off x="9358434" y="1621021"/>
            <a:ext cx="774541" cy="95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HTTPS</a:t>
            </a:r>
          </a:p>
          <a:p>
            <a:pPr algn="ctr"/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WSS</a:t>
            </a:r>
          </a:p>
          <a:p>
            <a:pPr algn="ctr"/>
            <a:r>
              <a:rPr lang="en-US" altLang="ko-KR" sz="14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en-US" altLang="ko-KR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  <a:p>
            <a:pPr algn="ctr"/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: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91966532-DAC0-D68E-FF46-A147AE5F4EB7}"/>
              </a:ext>
            </a:extLst>
          </p:cNvPr>
          <p:cNvCxnSpPr>
            <a:cxnSpLocks/>
          </p:cNvCxnSpPr>
          <p:nvPr/>
        </p:nvCxnSpPr>
        <p:spPr>
          <a:xfrm>
            <a:off x="6737511" y="1355883"/>
            <a:ext cx="0" cy="5332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204308B5-D671-C0B7-F07F-32401D919139}"/>
              </a:ext>
            </a:extLst>
          </p:cNvPr>
          <p:cNvSpPr txBox="1"/>
          <p:nvPr/>
        </p:nvSpPr>
        <p:spPr>
          <a:xfrm>
            <a:off x="6777097" y="1499396"/>
            <a:ext cx="168347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Rule, Pipeline, MQ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5E2D6792-B973-25AD-BFBB-6B43C0470F05}"/>
              </a:ext>
            </a:extLst>
          </p:cNvPr>
          <p:cNvSpPr/>
          <p:nvPr/>
        </p:nvSpPr>
        <p:spPr>
          <a:xfrm>
            <a:off x="3381439" y="2057934"/>
            <a:ext cx="190242" cy="19024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900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      Broker</a:t>
            </a:r>
            <a:endParaRPr lang="ko-KR" altLang="en-US" sz="900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4C2CB254-5709-A8D2-1BC5-8411F22537BD}"/>
              </a:ext>
            </a:extLst>
          </p:cNvPr>
          <p:cNvSpPr/>
          <p:nvPr/>
        </p:nvSpPr>
        <p:spPr>
          <a:xfrm>
            <a:off x="6414652" y="1979613"/>
            <a:ext cx="156642" cy="15664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900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     AT</a:t>
            </a:r>
            <a:endParaRPr lang="ko-KR" altLang="en-US" sz="900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43AA07D2-AD22-D639-7EDB-3A5761DFA93F}"/>
              </a:ext>
            </a:extLst>
          </p:cNvPr>
          <p:cNvSpPr/>
          <p:nvPr/>
        </p:nvSpPr>
        <p:spPr>
          <a:xfrm>
            <a:off x="6414652" y="2212496"/>
            <a:ext cx="156642" cy="15664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900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     AGT</a:t>
            </a:r>
            <a:endParaRPr lang="ko-KR" altLang="en-US" sz="900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06E9F2-A27B-C81C-0E02-04288DC32C27}"/>
              </a:ext>
            </a:extLst>
          </p:cNvPr>
          <p:cNvSpPr txBox="1"/>
          <p:nvPr/>
        </p:nvSpPr>
        <p:spPr>
          <a:xfrm>
            <a:off x="7419924" y="6290506"/>
            <a:ext cx="3243196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* VISSv3</a:t>
            </a:r>
            <a:r>
              <a:rPr lang="ko-KR" altLang="en-US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 </a:t>
            </a:r>
            <a:r>
              <a:rPr lang="en-US" altLang="ko-KR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Server </a:t>
            </a:r>
            <a:r>
              <a:rPr lang="ko-KR" altLang="en-US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를 </a:t>
            </a:r>
            <a:r>
              <a:rPr lang="en-US" altLang="ko-KR" sz="1200" i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Databroker</a:t>
            </a:r>
            <a:r>
              <a:rPr lang="en-US" altLang="ko-KR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 </a:t>
            </a:r>
            <a:r>
              <a:rPr lang="ko-KR" altLang="en-US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에 </a:t>
            </a:r>
            <a:r>
              <a:rPr lang="ko-KR" altLang="en-US" sz="1200" i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임베드</a:t>
            </a:r>
            <a:r>
              <a:rPr lang="ko-KR" altLang="en-US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 가능</a:t>
            </a:r>
          </a:p>
        </p:txBody>
      </p: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674A95AF-4E8A-3C96-4E14-A3277D2C60E0}"/>
              </a:ext>
            </a:extLst>
          </p:cNvPr>
          <p:cNvCxnSpPr>
            <a:cxnSpLocks/>
            <a:stCxn id="7" idx="3"/>
            <a:endCxn id="56" idx="2"/>
          </p:cNvCxnSpPr>
          <p:nvPr/>
        </p:nvCxnSpPr>
        <p:spPr>
          <a:xfrm flipV="1">
            <a:off x="8185211" y="1361235"/>
            <a:ext cx="1119993" cy="3237493"/>
          </a:xfrm>
          <a:prstGeom prst="bentConnector2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E015281C-576D-82FF-30C1-8C88AFD9C8F3}"/>
              </a:ext>
            </a:extLst>
          </p:cNvPr>
          <p:cNvSpPr txBox="1"/>
          <p:nvPr/>
        </p:nvSpPr>
        <p:spPr>
          <a:xfrm>
            <a:off x="8292000" y="4715555"/>
            <a:ext cx="1031051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외부 접근 허용</a:t>
            </a:r>
          </a:p>
        </p:txBody>
      </p:sp>
    </p:spTree>
    <p:extLst>
      <p:ext uri="{BB962C8B-B14F-4D97-AF65-F5344CB8AC3E}">
        <p14:creationId xmlns:p14="http://schemas.microsoft.com/office/powerpoint/2010/main" val="1445699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64C35-096D-2250-6BF6-7710D2E6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0984841-5AD3-E2E9-1457-8A203DBF5049}"/>
              </a:ext>
            </a:extLst>
          </p:cNvPr>
          <p:cNvSpPr/>
          <p:nvPr/>
        </p:nvSpPr>
        <p:spPr>
          <a:xfrm>
            <a:off x="595983" y="3027285"/>
            <a:ext cx="9722424" cy="29649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&lt; TGU &gt;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79E5B0-F517-2D58-C33F-2E15BDD4D972}"/>
              </a:ext>
            </a:extLst>
          </p:cNvPr>
          <p:cNvSpPr/>
          <p:nvPr/>
        </p:nvSpPr>
        <p:spPr>
          <a:xfrm>
            <a:off x="1162974" y="3429000"/>
            <a:ext cx="3194234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D Medium" panose="020B0600000101010101" pitchFamily="34" charset="-127"/>
                <a:ea typeface="HD Medium" panose="020B0600000101010101" pitchFamily="34" charset="-127"/>
              </a:rPr>
              <a:t>VISSv3 Server</a:t>
            </a:r>
            <a:endParaRPr lang="ko-KR" altLang="en-US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91A9FD-3D0E-374A-51CE-5C0011B1F597}"/>
              </a:ext>
            </a:extLst>
          </p:cNvPr>
          <p:cNvSpPr/>
          <p:nvPr/>
        </p:nvSpPr>
        <p:spPr>
          <a:xfrm>
            <a:off x="4990978" y="3429000"/>
            <a:ext cx="3194233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HD Medium" panose="020B0600000101010101" pitchFamily="34" charset="-127"/>
                <a:ea typeface="HD Medium" panose="020B0600000101010101" pitchFamily="34" charset="-127"/>
              </a:rPr>
              <a:t>Local Consumer</a:t>
            </a:r>
            <a:br>
              <a:rPr lang="en-US" altLang="ko-KR" dirty="0">
                <a:latin typeface="HD Medium" panose="020B0600000101010101" pitchFamily="34" charset="-127"/>
                <a:ea typeface="HD Medium" panose="020B0600000101010101" pitchFamily="34" charset="-127"/>
              </a:rPr>
            </a:br>
            <a:r>
              <a:rPr lang="en-US" altLang="ko-KR" sz="1100" dirty="0">
                <a:latin typeface="HD Medium" panose="020B0600000101010101" pitchFamily="34" charset="-127"/>
                <a:ea typeface="HD Medium" panose="020B0600000101010101" pitchFamily="34" charset="-127"/>
              </a:rPr>
              <a:t>(AWS Greengrass Components)</a:t>
            </a:r>
            <a:endParaRPr lang="en-US" altLang="ko-KR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BA00DA6-18F2-0A3A-6BA5-62A05B6E320C}"/>
              </a:ext>
            </a:extLst>
          </p:cNvPr>
          <p:cNvSpPr/>
          <p:nvPr/>
        </p:nvSpPr>
        <p:spPr>
          <a:xfrm>
            <a:off x="1162974" y="4343400"/>
            <a:ext cx="7022237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Kuksa-Databroker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AF6EE6A-1CC0-8856-C648-E9A5B0BFD01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760091" y="3939655"/>
            <a:ext cx="0" cy="403745"/>
          </a:xfrm>
          <a:prstGeom prst="line">
            <a:avLst/>
          </a:prstGeom>
          <a:ln w="571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1D4FA7A-851A-AEA8-CA45-459CF7EDEB05}"/>
              </a:ext>
            </a:extLst>
          </p:cNvPr>
          <p:cNvSpPr txBox="1"/>
          <p:nvPr/>
        </p:nvSpPr>
        <p:spPr>
          <a:xfrm>
            <a:off x="2818392" y="3987638"/>
            <a:ext cx="1265090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i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r>
              <a:rPr lang="en-US" altLang="ko-KR" sz="1400" b="1" i="1" dirty="0">
                <a:latin typeface="HD Medium" panose="020B0600000101010101" pitchFamily="34" charset="-127"/>
                <a:ea typeface="HD Medium" panose="020B0600000101010101" pitchFamily="34" charset="-127"/>
              </a:rPr>
              <a:t> (TBD*)</a:t>
            </a:r>
            <a:endParaRPr lang="ko-KR" altLang="en-US" sz="1400" b="1" i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F468FF1-C3CA-9B25-CFA2-DBDB872177B2}"/>
              </a:ext>
            </a:extLst>
          </p:cNvPr>
          <p:cNvCxnSpPr>
            <a:cxnSpLocks/>
          </p:cNvCxnSpPr>
          <p:nvPr/>
        </p:nvCxnSpPr>
        <p:spPr>
          <a:xfrm>
            <a:off x="6740419" y="3939655"/>
            <a:ext cx="0" cy="4037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F5CC4E7-4C30-9044-7982-36FB4F1E4DC1}"/>
              </a:ext>
            </a:extLst>
          </p:cNvPr>
          <p:cNvSpPr txBox="1"/>
          <p:nvPr/>
        </p:nvSpPr>
        <p:spPr>
          <a:xfrm>
            <a:off x="6780005" y="3987638"/>
            <a:ext cx="63991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549BB9-05C9-5558-5E61-2E84E580704B}"/>
              </a:ext>
            </a:extLst>
          </p:cNvPr>
          <p:cNvSpPr/>
          <p:nvPr/>
        </p:nvSpPr>
        <p:spPr>
          <a:xfrm>
            <a:off x="1162975" y="5257800"/>
            <a:ext cx="1957890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J1939-Provider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FA0DB5-62EE-00C9-EE5D-E9AFED11D12E}"/>
              </a:ext>
            </a:extLst>
          </p:cNvPr>
          <p:cNvSpPr/>
          <p:nvPr/>
        </p:nvSpPr>
        <p:spPr>
          <a:xfrm>
            <a:off x="3695148" y="5257800"/>
            <a:ext cx="1957890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UDS-Provider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A4CF02E-1A5F-B0A3-FE83-AB7CB9D2FE21}"/>
              </a:ext>
            </a:extLst>
          </p:cNvPr>
          <p:cNvSpPr/>
          <p:nvPr/>
        </p:nvSpPr>
        <p:spPr>
          <a:xfrm>
            <a:off x="6227321" y="5257800"/>
            <a:ext cx="1957890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DDS-Provider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1ECD0A5-DC3C-1B18-4C96-FD4029D9FBA5}"/>
              </a:ext>
            </a:extLst>
          </p:cNvPr>
          <p:cNvCxnSpPr>
            <a:cxnSpLocks/>
          </p:cNvCxnSpPr>
          <p:nvPr/>
        </p:nvCxnSpPr>
        <p:spPr>
          <a:xfrm>
            <a:off x="2148396" y="4865513"/>
            <a:ext cx="0" cy="4037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C2BB140-B26E-65F8-2C98-22F617067C16}"/>
              </a:ext>
            </a:extLst>
          </p:cNvPr>
          <p:cNvSpPr txBox="1"/>
          <p:nvPr/>
        </p:nvSpPr>
        <p:spPr>
          <a:xfrm>
            <a:off x="2187982" y="4913496"/>
            <a:ext cx="63991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1196A46-3EAC-03CE-64A8-0525985FF0B9}"/>
              </a:ext>
            </a:extLst>
          </p:cNvPr>
          <p:cNvCxnSpPr>
            <a:cxnSpLocks/>
          </p:cNvCxnSpPr>
          <p:nvPr/>
        </p:nvCxnSpPr>
        <p:spPr>
          <a:xfrm>
            <a:off x="4740314" y="4865513"/>
            <a:ext cx="0" cy="4037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5292880-8B35-9968-A791-6879BA6A2DA8}"/>
              </a:ext>
            </a:extLst>
          </p:cNvPr>
          <p:cNvSpPr txBox="1"/>
          <p:nvPr/>
        </p:nvSpPr>
        <p:spPr>
          <a:xfrm>
            <a:off x="4779900" y="4913496"/>
            <a:ext cx="63991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C112976-B04F-1995-04C5-3B56CA7B6122}"/>
              </a:ext>
            </a:extLst>
          </p:cNvPr>
          <p:cNvCxnSpPr>
            <a:cxnSpLocks/>
          </p:cNvCxnSpPr>
          <p:nvPr/>
        </p:nvCxnSpPr>
        <p:spPr>
          <a:xfrm>
            <a:off x="7209562" y="4865513"/>
            <a:ext cx="0" cy="4037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C29D9A4-5B66-B3FD-17F1-588FFCD17E5D}"/>
              </a:ext>
            </a:extLst>
          </p:cNvPr>
          <p:cNvSpPr txBox="1"/>
          <p:nvPr/>
        </p:nvSpPr>
        <p:spPr>
          <a:xfrm>
            <a:off x="7265648" y="4913496"/>
            <a:ext cx="63991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D4B3092-15E6-91D5-60F0-754D28304F6E}"/>
              </a:ext>
            </a:extLst>
          </p:cNvPr>
          <p:cNvSpPr/>
          <p:nvPr/>
        </p:nvSpPr>
        <p:spPr>
          <a:xfrm>
            <a:off x="3120864" y="1889102"/>
            <a:ext cx="4070048" cy="5433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&lt; AWS IoT Core &gt;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7649282-3FF6-EC6C-8B87-35C3D4EA98E7}"/>
              </a:ext>
            </a:extLst>
          </p:cNvPr>
          <p:cNvSpPr/>
          <p:nvPr/>
        </p:nvSpPr>
        <p:spPr>
          <a:xfrm>
            <a:off x="595980" y="817855"/>
            <a:ext cx="7589231" cy="5433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&lt; VISSv3 API Gateway &gt;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663FC72-2D32-EC47-0CD9-966B5C94D53C}"/>
              </a:ext>
            </a:extLst>
          </p:cNvPr>
          <p:cNvCxnSpPr>
            <a:cxnSpLocks/>
          </p:cNvCxnSpPr>
          <p:nvPr/>
        </p:nvCxnSpPr>
        <p:spPr>
          <a:xfrm>
            <a:off x="6740419" y="2432482"/>
            <a:ext cx="0" cy="9965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EA9C462-DBD3-CF33-5856-828C0EFD91AD}"/>
              </a:ext>
            </a:extLst>
          </p:cNvPr>
          <p:cNvSpPr txBox="1"/>
          <p:nvPr/>
        </p:nvSpPr>
        <p:spPr>
          <a:xfrm>
            <a:off x="6780005" y="2575995"/>
            <a:ext cx="701602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MQTT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4C25032-E24E-CA37-9B21-09C5A64E06F9}"/>
              </a:ext>
            </a:extLst>
          </p:cNvPr>
          <p:cNvCxnSpPr>
            <a:cxnSpLocks/>
          </p:cNvCxnSpPr>
          <p:nvPr/>
        </p:nvCxnSpPr>
        <p:spPr>
          <a:xfrm>
            <a:off x="3480046" y="2432482"/>
            <a:ext cx="0" cy="99651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4FEFAC7-56D7-7545-F84B-928E858D979B}"/>
              </a:ext>
            </a:extLst>
          </p:cNvPr>
          <p:cNvSpPr txBox="1"/>
          <p:nvPr/>
        </p:nvSpPr>
        <p:spPr>
          <a:xfrm>
            <a:off x="3519632" y="2575995"/>
            <a:ext cx="701602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MQTT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6FA4775-3A3C-376D-2258-34808D93D4F8}"/>
              </a:ext>
            </a:extLst>
          </p:cNvPr>
          <p:cNvCxnSpPr>
            <a:cxnSpLocks/>
          </p:cNvCxnSpPr>
          <p:nvPr/>
        </p:nvCxnSpPr>
        <p:spPr>
          <a:xfrm>
            <a:off x="3480046" y="1355883"/>
            <a:ext cx="0" cy="5332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D388FF1-FC60-A95C-BADD-07F2CDAE9A29}"/>
              </a:ext>
            </a:extLst>
          </p:cNvPr>
          <p:cNvSpPr txBox="1"/>
          <p:nvPr/>
        </p:nvSpPr>
        <p:spPr>
          <a:xfrm>
            <a:off x="3519632" y="1499396"/>
            <a:ext cx="701602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MQTT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F6EA43A-AB12-A9A4-DC75-61F3349B6C5B}"/>
              </a:ext>
            </a:extLst>
          </p:cNvPr>
          <p:cNvCxnSpPr>
            <a:cxnSpLocks/>
          </p:cNvCxnSpPr>
          <p:nvPr/>
        </p:nvCxnSpPr>
        <p:spPr>
          <a:xfrm>
            <a:off x="2440245" y="1355883"/>
            <a:ext cx="0" cy="207311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33C5F6F-FE37-71B7-44A2-37AAA9B5BF20}"/>
              </a:ext>
            </a:extLst>
          </p:cNvPr>
          <p:cNvSpPr txBox="1"/>
          <p:nvPr/>
        </p:nvSpPr>
        <p:spPr>
          <a:xfrm>
            <a:off x="2479831" y="1499396"/>
            <a:ext cx="56778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WSS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007353B7-F2D8-86B0-2BC2-7CB508EA58C3}"/>
              </a:ext>
            </a:extLst>
          </p:cNvPr>
          <p:cNvCxnSpPr>
            <a:cxnSpLocks/>
          </p:cNvCxnSpPr>
          <p:nvPr/>
        </p:nvCxnSpPr>
        <p:spPr>
          <a:xfrm>
            <a:off x="1445946" y="1355883"/>
            <a:ext cx="0" cy="2073117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96893E2-1B7A-8BC0-1D7B-98FC147A44C8}"/>
              </a:ext>
            </a:extLst>
          </p:cNvPr>
          <p:cNvSpPr txBox="1"/>
          <p:nvPr/>
        </p:nvSpPr>
        <p:spPr>
          <a:xfrm>
            <a:off x="1485532" y="1499396"/>
            <a:ext cx="639919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841606E-9FA4-38A7-9C9E-A1DE77BDA8B0}"/>
              </a:ext>
            </a:extLst>
          </p:cNvPr>
          <p:cNvSpPr/>
          <p:nvPr/>
        </p:nvSpPr>
        <p:spPr>
          <a:xfrm>
            <a:off x="8292000" y="817855"/>
            <a:ext cx="2026407" cy="5433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Gateway Servers</a:t>
            </a:r>
            <a:endParaRPr lang="ko-KR" altLang="en-US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F0CB62FA-648F-3B6A-383A-90E794A0686E}"/>
              </a:ext>
            </a:extLst>
          </p:cNvPr>
          <p:cNvCxnSpPr>
            <a:cxnSpLocks/>
            <a:stCxn id="6" idx="3"/>
            <a:endCxn id="56" idx="2"/>
          </p:cNvCxnSpPr>
          <p:nvPr/>
        </p:nvCxnSpPr>
        <p:spPr>
          <a:xfrm flipV="1">
            <a:off x="8185211" y="1361235"/>
            <a:ext cx="1119993" cy="2323093"/>
          </a:xfrm>
          <a:prstGeom prst="bentConnector2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E49E826-371A-2491-751E-8F7F20E2C5FE}"/>
              </a:ext>
            </a:extLst>
          </p:cNvPr>
          <p:cNvSpPr txBox="1"/>
          <p:nvPr/>
        </p:nvSpPr>
        <p:spPr>
          <a:xfrm>
            <a:off x="9358434" y="1621021"/>
            <a:ext cx="774541" cy="95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HTTPS</a:t>
            </a:r>
          </a:p>
          <a:p>
            <a:pPr algn="ctr"/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WSS</a:t>
            </a:r>
          </a:p>
          <a:p>
            <a:pPr algn="ctr"/>
            <a:r>
              <a:rPr lang="en-US" altLang="ko-KR" sz="14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gRPC</a:t>
            </a:r>
            <a:endParaRPr lang="en-US" altLang="ko-KR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  <a:p>
            <a:pPr algn="ctr"/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: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4F59A1A8-BF4C-EFBD-3301-F67478DC3A8B}"/>
              </a:ext>
            </a:extLst>
          </p:cNvPr>
          <p:cNvCxnSpPr>
            <a:cxnSpLocks/>
          </p:cNvCxnSpPr>
          <p:nvPr/>
        </p:nvCxnSpPr>
        <p:spPr>
          <a:xfrm>
            <a:off x="6737511" y="1355883"/>
            <a:ext cx="0" cy="5332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3497104-04CF-1912-51C5-B60FB0116B11}"/>
              </a:ext>
            </a:extLst>
          </p:cNvPr>
          <p:cNvSpPr txBox="1"/>
          <p:nvPr/>
        </p:nvSpPr>
        <p:spPr>
          <a:xfrm>
            <a:off x="6777097" y="1499396"/>
            <a:ext cx="1683474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Rule, Pipeline, MQ</a:t>
            </a:r>
            <a:endParaRPr lang="ko-KR" altLang="en-US" sz="14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3382A828-D903-3CA3-A563-1AF00AE5A235}"/>
              </a:ext>
            </a:extLst>
          </p:cNvPr>
          <p:cNvSpPr/>
          <p:nvPr/>
        </p:nvSpPr>
        <p:spPr>
          <a:xfrm>
            <a:off x="3381439" y="2057934"/>
            <a:ext cx="190242" cy="19024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900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      Broker</a:t>
            </a:r>
            <a:endParaRPr lang="ko-KR" altLang="en-US" sz="900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98F0168-BE5B-FE0A-8FC7-BC1159C15F90}"/>
              </a:ext>
            </a:extLst>
          </p:cNvPr>
          <p:cNvSpPr/>
          <p:nvPr/>
        </p:nvSpPr>
        <p:spPr>
          <a:xfrm>
            <a:off x="6414652" y="1979613"/>
            <a:ext cx="156642" cy="15664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900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     AT</a:t>
            </a:r>
            <a:endParaRPr lang="ko-KR" altLang="en-US" sz="900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227C7494-90BF-C8C7-95C4-9112D59D6225}"/>
              </a:ext>
            </a:extLst>
          </p:cNvPr>
          <p:cNvSpPr/>
          <p:nvPr/>
        </p:nvSpPr>
        <p:spPr>
          <a:xfrm>
            <a:off x="6414652" y="2212496"/>
            <a:ext cx="156642" cy="15664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900" dirty="0">
                <a:solidFill>
                  <a:schemeClr val="tx1"/>
                </a:solidFill>
                <a:latin typeface="HD Medium" panose="020B0600000101010101" pitchFamily="34" charset="-127"/>
                <a:ea typeface="HD Medium" panose="020B0600000101010101" pitchFamily="34" charset="-127"/>
              </a:rPr>
              <a:t>     AGT</a:t>
            </a:r>
            <a:endParaRPr lang="ko-KR" altLang="en-US" sz="900" dirty="0">
              <a:solidFill>
                <a:schemeClr val="tx1"/>
              </a:solidFill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339B0D-94F2-6018-C5B2-5712DFDDF35E}"/>
              </a:ext>
            </a:extLst>
          </p:cNvPr>
          <p:cNvSpPr txBox="1"/>
          <p:nvPr/>
        </p:nvSpPr>
        <p:spPr>
          <a:xfrm>
            <a:off x="7419924" y="6290506"/>
            <a:ext cx="3243196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* VISSv3</a:t>
            </a:r>
            <a:r>
              <a:rPr lang="ko-KR" altLang="en-US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 </a:t>
            </a:r>
            <a:r>
              <a:rPr lang="en-US" altLang="ko-KR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Server </a:t>
            </a:r>
            <a:r>
              <a:rPr lang="ko-KR" altLang="en-US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를 </a:t>
            </a:r>
            <a:r>
              <a:rPr lang="en-US" altLang="ko-KR" sz="1200" i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Databroker</a:t>
            </a:r>
            <a:r>
              <a:rPr lang="en-US" altLang="ko-KR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 </a:t>
            </a:r>
            <a:r>
              <a:rPr lang="ko-KR" altLang="en-US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에 </a:t>
            </a:r>
            <a:r>
              <a:rPr lang="ko-KR" altLang="en-US" sz="1200" i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임베드</a:t>
            </a:r>
            <a:r>
              <a:rPr lang="ko-KR" altLang="en-US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 가능</a:t>
            </a:r>
          </a:p>
        </p:txBody>
      </p: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2AF59F08-ED89-17F9-0D04-B30668979E45}"/>
              </a:ext>
            </a:extLst>
          </p:cNvPr>
          <p:cNvCxnSpPr>
            <a:cxnSpLocks/>
            <a:stCxn id="7" idx="3"/>
            <a:endCxn id="56" idx="2"/>
          </p:cNvCxnSpPr>
          <p:nvPr/>
        </p:nvCxnSpPr>
        <p:spPr>
          <a:xfrm flipV="1">
            <a:off x="8185211" y="1361235"/>
            <a:ext cx="1119993" cy="3237493"/>
          </a:xfrm>
          <a:prstGeom prst="bentConnector2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4E8E4C1-5DBB-53F2-319B-DCBBE71B3A49}"/>
              </a:ext>
            </a:extLst>
          </p:cNvPr>
          <p:cNvSpPr txBox="1"/>
          <p:nvPr/>
        </p:nvSpPr>
        <p:spPr>
          <a:xfrm>
            <a:off x="8292000" y="4715555"/>
            <a:ext cx="1031051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i="1" dirty="0">
                <a:latin typeface="HD Medium" panose="020B0600000101010101" pitchFamily="34" charset="-127"/>
                <a:ea typeface="HD Medium" panose="020B0600000101010101" pitchFamily="34" charset="-127"/>
              </a:rPr>
              <a:t>외부 접근 허용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A175A244-C725-ABF5-6A1F-ABF494E000DA}"/>
              </a:ext>
            </a:extLst>
          </p:cNvPr>
          <p:cNvSpPr/>
          <p:nvPr/>
        </p:nvSpPr>
        <p:spPr>
          <a:xfrm>
            <a:off x="3843084" y="3415754"/>
            <a:ext cx="524066" cy="1918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Golang</a:t>
            </a:r>
            <a:endParaRPr lang="ko-KR" altLang="en-US" sz="900" b="1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A930ABB-52FD-8101-7DB8-FE810630A0B7}"/>
              </a:ext>
            </a:extLst>
          </p:cNvPr>
          <p:cNvSpPr/>
          <p:nvPr/>
        </p:nvSpPr>
        <p:spPr>
          <a:xfrm>
            <a:off x="7661145" y="4342635"/>
            <a:ext cx="524066" cy="1918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RUST</a:t>
            </a:r>
            <a:endParaRPr lang="ko-KR" altLang="en-US" sz="9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0275C2F-8A6F-4FD0-0590-008B42348168}"/>
              </a:ext>
            </a:extLst>
          </p:cNvPr>
          <p:cNvSpPr/>
          <p:nvPr/>
        </p:nvSpPr>
        <p:spPr>
          <a:xfrm>
            <a:off x="2607118" y="5221273"/>
            <a:ext cx="524066" cy="1918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PYTHON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153423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ED6BC-CF46-D895-F055-F9FD2043E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AB7DFAA-90E6-C2AB-5DA0-B19A71F9DDB4}"/>
              </a:ext>
            </a:extLst>
          </p:cNvPr>
          <p:cNvSpPr/>
          <p:nvPr/>
        </p:nvSpPr>
        <p:spPr>
          <a:xfrm>
            <a:off x="831671" y="324678"/>
            <a:ext cx="3194234" cy="228313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VISSv3 Server</a:t>
            </a:r>
            <a:endParaRPr lang="ko-KR" altLang="en-US" sz="12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964003-8A8F-7C46-3A97-CA5B36C0EB88}"/>
              </a:ext>
            </a:extLst>
          </p:cNvPr>
          <p:cNvSpPr/>
          <p:nvPr/>
        </p:nvSpPr>
        <p:spPr>
          <a:xfrm>
            <a:off x="831670" y="2792166"/>
            <a:ext cx="3194235" cy="510655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Kuksa-Databroker</a:t>
            </a:r>
            <a:endParaRPr lang="ko-KR" altLang="en-US" sz="12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2F9C0CE-7D05-9C28-4A24-C827A8E707B8}"/>
              </a:ext>
            </a:extLst>
          </p:cNvPr>
          <p:cNvSpPr/>
          <p:nvPr/>
        </p:nvSpPr>
        <p:spPr>
          <a:xfrm>
            <a:off x="967411" y="649356"/>
            <a:ext cx="2968486" cy="8083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TRANSPORT (ABC)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6AFD3D1-2615-40B1-6FBF-0A7D709A4DC6}"/>
              </a:ext>
            </a:extLst>
          </p:cNvPr>
          <p:cNvSpPr/>
          <p:nvPr/>
        </p:nvSpPr>
        <p:spPr>
          <a:xfrm>
            <a:off x="1146315" y="1002418"/>
            <a:ext cx="742122" cy="3313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MQTT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BE4821E-C974-E4A1-08F6-A6E5F47C3A75}"/>
              </a:ext>
            </a:extLst>
          </p:cNvPr>
          <p:cNvSpPr/>
          <p:nvPr/>
        </p:nvSpPr>
        <p:spPr>
          <a:xfrm>
            <a:off x="2113745" y="1002418"/>
            <a:ext cx="675818" cy="3313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err="1">
                <a:solidFill>
                  <a:schemeClr val="tx1"/>
                </a:solidFill>
              </a:rPr>
              <a:t>gRPC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3C9265D-715E-88C5-2793-EB7DD93BF786}"/>
              </a:ext>
            </a:extLst>
          </p:cNvPr>
          <p:cNvSpPr/>
          <p:nvPr/>
        </p:nvSpPr>
        <p:spPr>
          <a:xfrm>
            <a:off x="3024821" y="1002418"/>
            <a:ext cx="675818" cy="3313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WSS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7413279-697A-AA43-4F99-E476079D2C4F}"/>
              </a:ext>
            </a:extLst>
          </p:cNvPr>
          <p:cNvSpPr/>
          <p:nvPr/>
        </p:nvSpPr>
        <p:spPr>
          <a:xfrm>
            <a:off x="967411" y="1537729"/>
            <a:ext cx="2968486" cy="344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CORE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4FED0F3-808A-AA66-CC23-33398207DF50}"/>
              </a:ext>
            </a:extLst>
          </p:cNvPr>
          <p:cNvSpPr/>
          <p:nvPr/>
        </p:nvSpPr>
        <p:spPr>
          <a:xfrm>
            <a:off x="967411" y="1962052"/>
            <a:ext cx="2968486" cy="5438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Databroker</a:t>
            </a:r>
            <a:r>
              <a:rPr lang="en-US" altLang="ko-KR" sz="1200" b="1" dirty="0">
                <a:solidFill>
                  <a:schemeClr val="tx1"/>
                </a:solidFill>
              </a:rPr>
              <a:t>-Adapter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E23473B-C738-57DC-4DCA-EFADB838DBF4}"/>
              </a:ext>
            </a:extLst>
          </p:cNvPr>
          <p:cNvSpPr/>
          <p:nvPr/>
        </p:nvSpPr>
        <p:spPr>
          <a:xfrm>
            <a:off x="1156937" y="2248315"/>
            <a:ext cx="2543702" cy="1981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err="1">
                <a:solidFill>
                  <a:schemeClr val="tx1"/>
                </a:solidFill>
              </a:rPr>
              <a:t>Kuksa</a:t>
            </a:r>
            <a:r>
              <a:rPr lang="en-US" altLang="ko-KR" sz="1200" b="1" dirty="0">
                <a:solidFill>
                  <a:schemeClr val="tx1"/>
                </a:solidFill>
              </a:rPr>
              <a:t>-client SDK 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9E312B-F44F-9090-FBC2-598468E3964A}"/>
              </a:ext>
            </a:extLst>
          </p:cNvPr>
          <p:cNvSpPr/>
          <p:nvPr/>
        </p:nvSpPr>
        <p:spPr>
          <a:xfrm>
            <a:off x="831671" y="3487176"/>
            <a:ext cx="3194234" cy="2615450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J1939-Provider</a:t>
            </a:r>
            <a:endParaRPr lang="ko-KR" altLang="en-US" sz="12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708B1B4-9732-3399-AD9F-BD91C8367325}"/>
              </a:ext>
            </a:extLst>
          </p:cNvPr>
          <p:cNvSpPr/>
          <p:nvPr/>
        </p:nvSpPr>
        <p:spPr>
          <a:xfrm>
            <a:off x="967411" y="3819211"/>
            <a:ext cx="2968486" cy="5438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Databroker</a:t>
            </a:r>
            <a:r>
              <a:rPr lang="en-US" altLang="ko-KR" sz="1200" b="1" dirty="0">
                <a:solidFill>
                  <a:schemeClr val="tx1"/>
                </a:solidFill>
              </a:rPr>
              <a:t>-Adapter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A3DCB66-9F40-BD8E-8828-D442E5C34366}"/>
              </a:ext>
            </a:extLst>
          </p:cNvPr>
          <p:cNvSpPr/>
          <p:nvPr/>
        </p:nvSpPr>
        <p:spPr>
          <a:xfrm>
            <a:off x="1156937" y="4105474"/>
            <a:ext cx="2543702" cy="1981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err="1">
                <a:solidFill>
                  <a:schemeClr val="tx1"/>
                </a:solidFill>
              </a:rPr>
              <a:t>Kuksa</a:t>
            </a:r>
            <a:r>
              <a:rPr lang="en-US" altLang="ko-KR" sz="1200" b="1" dirty="0">
                <a:solidFill>
                  <a:schemeClr val="tx1"/>
                </a:solidFill>
              </a:rPr>
              <a:t>-client SDK 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B18758C9-2E6C-EB53-46A4-277279F16D93}"/>
              </a:ext>
            </a:extLst>
          </p:cNvPr>
          <p:cNvSpPr/>
          <p:nvPr/>
        </p:nvSpPr>
        <p:spPr>
          <a:xfrm>
            <a:off x="967411" y="4487939"/>
            <a:ext cx="2968486" cy="832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VSS-Mapper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0C46EF95-6F32-4885-D9D2-C1A2A1471F4C}"/>
              </a:ext>
            </a:extLst>
          </p:cNvPr>
          <p:cNvSpPr/>
          <p:nvPr/>
        </p:nvSpPr>
        <p:spPr>
          <a:xfrm>
            <a:off x="1025731" y="4774202"/>
            <a:ext cx="731500" cy="1981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vss.json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CB27FE5-9EAF-654D-7D21-C35430CF02CB}"/>
              </a:ext>
            </a:extLst>
          </p:cNvPr>
          <p:cNvSpPr/>
          <p:nvPr/>
        </p:nvSpPr>
        <p:spPr>
          <a:xfrm>
            <a:off x="1815550" y="4774202"/>
            <a:ext cx="1272208" cy="1981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j1939.overlay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538DE6D1-E98B-8C3C-98B1-5A2E782F0270}"/>
              </a:ext>
            </a:extLst>
          </p:cNvPr>
          <p:cNvSpPr/>
          <p:nvPr/>
        </p:nvSpPr>
        <p:spPr>
          <a:xfrm>
            <a:off x="3146077" y="4774202"/>
            <a:ext cx="731500" cy="1981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DBC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916B3DB-726E-129B-058B-34735FE24D7A}"/>
              </a:ext>
            </a:extLst>
          </p:cNvPr>
          <p:cNvSpPr/>
          <p:nvPr/>
        </p:nvSpPr>
        <p:spPr>
          <a:xfrm>
            <a:off x="1025731" y="5047236"/>
            <a:ext cx="2851846" cy="1981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J1939 protocol parser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861186CE-36C8-9F10-C89A-7A05CBC708CF}"/>
              </a:ext>
            </a:extLst>
          </p:cNvPr>
          <p:cNvSpPr/>
          <p:nvPr/>
        </p:nvSpPr>
        <p:spPr>
          <a:xfrm>
            <a:off x="967411" y="5416582"/>
            <a:ext cx="2968486" cy="5734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CAN-Interface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489C00EA-78B8-59D2-435D-3D2924ED0445}"/>
              </a:ext>
            </a:extLst>
          </p:cNvPr>
          <p:cNvSpPr/>
          <p:nvPr/>
        </p:nvSpPr>
        <p:spPr>
          <a:xfrm>
            <a:off x="1326537" y="5708716"/>
            <a:ext cx="1027042" cy="1981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can-j1939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FEE5F8C-BEE7-AD2E-1D5F-5CED249534A0}"/>
              </a:ext>
            </a:extLst>
          </p:cNvPr>
          <p:cNvSpPr/>
          <p:nvPr/>
        </p:nvSpPr>
        <p:spPr>
          <a:xfrm>
            <a:off x="2574237" y="5708716"/>
            <a:ext cx="1027042" cy="1981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python-can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F0ABEB-92D4-8FD4-3274-A96369DA0959}"/>
              </a:ext>
            </a:extLst>
          </p:cNvPr>
          <p:cNvSpPr txBox="1"/>
          <p:nvPr/>
        </p:nvSpPr>
        <p:spPr>
          <a:xfrm>
            <a:off x="4823791" y="324678"/>
            <a:ext cx="682487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D Medium" panose="020B0600000101010101" pitchFamily="34" charset="-127"/>
                <a:ea typeface="HD Medium" panose="020B0600000101010101" pitchFamily="34" charset="-127"/>
              </a:rPr>
              <a:t>[ TO-DO 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Golang 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으로 개발된 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VISSR 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을 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Python 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으로 변환</a:t>
            </a:r>
            <a:endParaRPr lang="en-US" altLang="ko-KR" sz="1400" dirty="0">
              <a:latin typeface="HD Medium" panose="020B0600000101010101" pitchFamily="34" charset="-127"/>
              <a:ea typeface="HD Medium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기본 기능 개발 및 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Security Access 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확장</a:t>
            </a:r>
            <a:endParaRPr lang="en-US" altLang="ko-KR" sz="1400" dirty="0">
              <a:latin typeface="HD Medium" panose="020B0600000101010101" pitchFamily="34" charset="-127"/>
              <a:ea typeface="HD Medium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Filter Operation 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상세 구현</a:t>
            </a:r>
            <a:endParaRPr lang="en-US" altLang="ko-KR" sz="1400" dirty="0">
              <a:latin typeface="HD Medium" panose="020B0600000101010101" pitchFamily="34" charset="-127"/>
              <a:ea typeface="HD Medium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Database, 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특히 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Core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 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~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 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Adapter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 설계 및 구현</a:t>
            </a:r>
            <a:endParaRPr lang="en-US" altLang="ko-KR" sz="1400" dirty="0">
              <a:latin typeface="HD Medium" panose="020B0600000101010101" pitchFamily="34" charset="-127"/>
              <a:ea typeface="HD Medium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VISSv2 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  <a:sym typeface="Wingdings" panose="05000000000000000000" pitchFamily="2" charset="2"/>
              </a:rPr>
              <a:t> VISSv3 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  <a:sym typeface="Wingdings" panose="05000000000000000000" pitchFamily="2" charset="2"/>
              </a:rPr>
              <a:t>확장</a:t>
            </a:r>
            <a:endParaRPr lang="ko-KR" altLang="en-US" sz="1400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60AAA5E-6A74-3BC0-31A3-7E1AEBDE5217}"/>
              </a:ext>
            </a:extLst>
          </p:cNvPr>
          <p:cNvSpPr txBox="1"/>
          <p:nvPr/>
        </p:nvSpPr>
        <p:spPr>
          <a:xfrm>
            <a:off x="4823791" y="2677018"/>
            <a:ext cx="682487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D Medium" panose="020B0600000101010101" pitchFamily="34" charset="-127"/>
                <a:ea typeface="HD Medium" panose="020B0600000101010101" pitchFamily="34" charset="-127"/>
              </a:rPr>
              <a:t>[ TO-DO 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RUST Build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Porting on </a:t>
            </a:r>
            <a:r>
              <a:rPr lang="en-US" altLang="ko-KR" sz="1400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Yocto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 Linux (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개발은 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Ubuntu)</a:t>
            </a:r>
            <a:endParaRPr lang="ko-KR" altLang="en-US" sz="1400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6AA1C06-6B6E-B470-07DD-0FF73E79D7CE}"/>
              </a:ext>
            </a:extLst>
          </p:cNvPr>
          <p:cNvSpPr txBox="1"/>
          <p:nvPr/>
        </p:nvSpPr>
        <p:spPr>
          <a:xfrm>
            <a:off x="4823791" y="4323961"/>
            <a:ext cx="68248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D Medium" panose="020B0600000101010101" pitchFamily="34" charset="-127"/>
                <a:ea typeface="HD Medium" panose="020B0600000101010101" pitchFamily="34" charset="-127"/>
              </a:rPr>
              <a:t>[ TO-DO 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Adapter 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설계 및 구현</a:t>
            </a:r>
            <a:endParaRPr lang="en-US" altLang="ko-KR" sz="1400" dirty="0">
              <a:latin typeface="HD Medium" panose="020B0600000101010101" pitchFamily="34" charset="-127"/>
              <a:ea typeface="HD Medium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J1939 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특화된 </a:t>
            </a:r>
            <a:r>
              <a:rPr lang="en-US" altLang="ko-KR" sz="1400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vss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 ~ </a:t>
            </a:r>
            <a:r>
              <a:rPr lang="en-US" altLang="ko-KR" sz="1400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dbc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 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연동 통합 관리 체계</a:t>
            </a:r>
            <a:endParaRPr lang="en-US" altLang="ko-KR" sz="1400" dirty="0">
              <a:latin typeface="HD Medium" panose="020B0600000101010101" pitchFamily="34" charset="-127"/>
              <a:ea typeface="HD Medium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vss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-tools 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를 이용한 동적 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mapper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J1939-21 TP 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계층 구현 </a:t>
            </a:r>
            <a:r>
              <a:rPr lang="en-US" altLang="ko-KR" sz="1050" dirty="0">
                <a:latin typeface="HD Medium" panose="020B0600000101010101" pitchFamily="34" charset="-127"/>
                <a:ea typeface="HD Medium" panose="020B0600000101010101" pitchFamily="34" charset="-127"/>
              </a:rPr>
              <a:t>(PDU1, PDU2, BAM, RTX/CTS, Request PGN, </a:t>
            </a:r>
            <a:r>
              <a:rPr lang="en-US" altLang="ko-KR" sz="1050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Command&amp;Response</a:t>
            </a:r>
            <a:r>
              <a:rPr lang="en-US" altLang="ko-KR" sz="1050" dirty="0">
                <a:latin typeface="HD Medium" panose="020B0600000101010101" pitchFamily="34" charset="-127"/>
                <a:ea typeface="HD Medium" panose="020B0600000101010101" pitchFamily="34" charset="-127"/>
              </a:rPr>
              <a:t>)</a:t>
            </a:r>
            <a:endParaRPr lang="en-US" altLang="ko-KR" sz="1400" dirty="0">
              <a:latin typeface="HD Medium" panose="020B0600000101010101" pitchFamily="34" charset="-127"/>
              <a:ea typeface="HD Medium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Multi-Channel CAN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 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Network</a:t>
            </a:r>
            <a:r>
              <a:rPr lang="ko-KR" altLang="en-US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 </a:t>
            </a:r>
            <a:r>
              <a:rPr lang="en-US" altLang="ko-KR" sz="1400" dirty="0">
                <a:latin typeface="HD Medium" panose="020B0600000101010101" pitchFamily="34" charset="-127"/>
                <a:ea typeface="HD Medium" panose="020B0600000101010101" pitchFamily="34" charset="-127"/>
              </a:rPr>
              <a:t>Manager</a:t>
            </a:r>
            <a:endParaRPr lang="ko-KR" altLang="en-US" sz="1400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09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078B724-7ED5-1532-7216-D5CBDBC02EC5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>
            <a:off x="2248585" y="1586945"/>
            <a:ext cx="0" cy="34857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그래픽 4" descr="문서 윤곽선">
            <a:extLst>
              <a:ext uri="{FF2B5EF4-FFF2-40B4-BE49-F238E27FC236}">
                <a16:creationId xmlns:a16="http://schemas.microsoft.com/office/drawing/2014/main" id="{D0F07CCD-8698-6F71-F739-75FCAE867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1385" y="572518"/>
            <a:ext cx="914400" cy="914400"/>
          </a:xfrm>
          <a:prstGeom prst="rect">
            <a:avLst/>
          </a:prstGeom>
        </p:spPr>
      </p:pic>
      <p:pic>
        <p:nvPicPr>
          <p:cNvPr id="7" name="그래픽 6" descr="문서 윤곽선">
            <a:extLst>
              <a:ext uri="{FF2B5EF4-FFF2-40B4-BE49-F238E27FC236}">
                <a16:creationId xmlns:a16="http://schemas.microsoft.com/office/drawing/2014/main" id="{022619EE-C8E7-DAC8-3EA3-2A316A6E8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8541" y="572518"/>
            <a:ext cx="914400" cy="914400"/>
          </a:xfrm>
          <a:prstGeom prst="rect">
            <a:avLst/>
          </a:prstGeom>
        </p:spPr>
      </p:pic>
      <p:pic>
        <p:nvPicPr>
          <p:cNvPr id="8" name="그래픽 7" descr="문서 윤곽선">
            <a:extLst>
              <a:ext uri="{FF2B5EF4-FFF2-40B4-BE49-F238E27FC236}">
                <a16:creationId xmlns:a16="http://schemas.microsoft.com/office/drawing/2014/main" id="{C5DB06F7-88FF-C59A-B88A-B8736CDD8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7045" y="572518"/>
            <a:ext cx="914400" cy="91440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102A8F0-EFF9-7053-0131-C04286C7FB75}"/>
              </a:ext>
            </a:extLst>
          </p:cNvPr>
          <p:cNvCxnSpPr>
            <a:cxnSpLocks/>
          </p:cNvCxnSpPr>
          <p:nvPr/>
        </p:nvCxnSpPr>
        <p:spPr>
          <a:xfrm>
            <a:off x="2705785" y="1029718"/>
            <a:ext cx="1315989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그래픽 12" descr="데이터베이스 윤곽선">
            <a:extLst>
              <a:ext uri="{FF2B5EF4-FFF2-40B4-BE49-F238E27FC236}">
                <a16:creationId xmlns:a16="http://schemas.microsoft.com/office/drawing/2014/main" id="{B865224D-DA48-6DB8-D02C-A6755FA7E0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4939" y="1935515"/>
            <a:ext cx="547291" cy="547291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FA07F25E-497B-FFE6-41F5-5BC317CA350F}"/>
              </a:ext>
            </a:extLst>
          </p:cNvPr>
          <p:cNvSpPr/>
          <p:nvPr/>
        </p:nvSpPr>
        <p:spPr>
          <a:xfrm>
            <a:off x="1867586" y="572518"/>
            <a:ext cx="192156" cy="1921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1</a:t>
            </a:r>
            <a:endParaRPr lang="ko-KR" altLang="en-US" sz="11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68DAC2-CD9A-BB46-5A2A-5FBFE386AAC4}"/>
              </a:ext>
            </a:extLst>
          </p:cNvPr>
          <p:cNvSpPr txBox="1"/>
          <p:nvPr/>
        </p:nvSpPr>
        <p:spPr>
          <a:xfrm>
            <a:off x="1924618" y="1386890"/>
            <a:ext cx="6479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J1939 Std.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EC48DB-D436-7762-7403-D574035F0074}"/>
              </a:ext>
            </a:extLst>
          </p:cNvPr>
          <p:cNvSpPr txBox="1"/>
          <p:nvPr/>
        </p:nvSpPr>
        <p:spPr>
          <a:xfrm>
            <a:off x="4021774" y="1386890"/>
            <a:ext cx="6479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J1939 Std.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07561B-C8EB-395F-FCF3-8426264A690F}"/>
              </a:ext>
            </a:extLst>
          </p:cNvPr>
          <p:cNvSpPr txBox="1"/>
          <p:nvPr/>
        </p:nvSpPr>
        <p:spPr>
          <a:xfrm>
            <a:off x="4802941" y="1386890"/>
            <a:ext cx="65594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J1939 </a:t>
            </a:r>
            <a:r>
              <a:rPr lang="en-US" altLang="ko-KR" sz="7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Spc</a:t>
            </a:r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.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435CCB5-D3DD-8018-5BD3-1ED5A482669A}"/>
              </a:ext>
            </a:extLst>
          </p:cNvPr>
          <p:cNvSpPr/>
          <p:nvPr/>
        </p:nvSpPr>
        <p:spPr>
          <a:xfrm>
            <a:off x="4721087" y="572518"/>
            <a:ext cx="192156" cy="1921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2</a:t>
            </a:r>
            <a:endParaRPr lang="ko-KR" altLang="en-US" sz="11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93D693-A2F8-D15D-59BD-C58ECF2631EC}"/>
              </a:ext>
            </a:extLst>
          </p:cNvPr>
          <p:cNvSpPr txBox="1"/>
          <p:nvPr/>
        </p:nvSpPr>
        <p:spPr>
          <a:xfrm>
            <a:off x="1924618" y="2474032"/>
            <a:ext cx="63991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J1939.dbc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pic>
        <p:nvPicPr>
          <p:cNvPr id="27" name="그래픽 26" descr="문서 윤곽선">
            <a:extLst>
              <a:ext uri="{FF2B5EF4-FFF2-40B4-BE49-F238E27FC236}">
                <a16:creationId xmlns:a16="http://schemas.microsoft.com/office/drawing/2014/main" id="{3D54D0D4-6308-9F04-DFDD-4D34549CEF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27230" y="166970"/>
            <a:ext cx="914400" cy="914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72855E4-3F14-D29C-0283-AF73378D369F}"/>
              </a:ext>
            </a:extLst>
          </p:cNvPr>
          <p:cNvSpPr txBox="1"/>
          <p:nvPr/>
        </p:nvSpPr>
        <p:spPr>
          <a:xfrm>
            <a:off x="8860463" y="1010046"/>
            <a:ext cx="6046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vss.vspec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pic>
        <p:nvPicPr>
          <p:cNvPr id="31" name="그래픽 30" descr="데이터베이스 윤곽선">
            <a:extLst>
              <a:ext uri="{FF2B5EF4-FFF2-40B4-BE49-F238E27FC236}">
                <a16:creationId xmlns:a16="http://schemas.microsoft.com/office/drawing/2014/main" id="{F7A1FAA2-53E4-CB90-551D-B9D379432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7269" y="1935515"/>
            <a:ext cx="547291" cy="54729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D14FF96-8E39-BD49-8D53-9EF47BD19B9B}"/>
              </a:ext>
            </a:extLst>
          </p:cNvPr>
          <p:cNvSpPr txBox="1"/>
          <p:nvPr/>
        </p:nvSpPr>
        <p:spPr>
          <a:xfrm>
            <a:off x="4612983" y="2482806"/>
            <a:ext cx="1075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Excavator_can0. </a:t>
            </a:r>
            <a:r>
              <a:rPr lang="en-US" altLang="ko-KR" sz="7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dbc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CA3F3CB-5DC4-B3F3-3621-F62166B1BA62}"/>
              </a:ext>
            </a:extLst>
          </p:cNvPr>
          <p:cNvCxnSpPr>
            <a:cxnSpLocks/>
            <a:stCxn id="18" idx="2"/>
            <a:endCxn id="31" idx="0"/>
          </p:cNvCxnSpPr>
          <p:nvPr/>
        </p:nvCxnSpPr>
        <p:spPr>
          <a:xfrm flipH="1">
            <a:off x="5130915" y="1586945"/>
            <a:ext cx="1" cy="348570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그래픽 36" descr="데이터베이스 윤곽선">
            <a:extLst>
              <a:ext uri="{FF2B5EF4-FFF2-40B4-BE49-F238E27FC236}">
                <a16:creationId xmlns:a16="http://schemas.microsoft.com/office/drawing/2014/main" id="{75F3B25B-0D5C-AFC5-46D9-9F646CFE25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5767" y="1935515"/>
            <a:ext cx="547291" cy="547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FD1D880-5AED-FB71-32CD-E3123118A4D6}"/>
              </a:ext>
            </a:extLst>
          </p:cNvPr>
          <p:cNvSpPr txBox="1"/>
          <p:nvPr/>
        </p:nvSpPr>
        <p:spPr>
          <a:xfrm>
            <a:off x="5621481" y="2482806"/>
            <a:ext cx="1075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Excavator_can1. </a:t>
            </a:r>
            <a:r>
              <a:rPr lang="en-US" altLang="ko-KR" sz="7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dbc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pic>
        <p:nvPicPr>
          <p:cNvPr id="39" name="그래픽 38" descr="데이터베이스 윤곽선">
            <a:extLst>
              <a:ext uri="{FF2B5EF4-FFF2-40B4-BE49-F238E27FC236}">
                <a16:creationId xmlns:a16="http://schemas.microsoft.com/office/drawing/2014/main" id="{1254A3F1-88D1-CD83-1188-C6AB46A18A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1628" y="1935515"/>
            <a:ext cx="547291" cy="54729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DD28925-CC29-7303-FBD6-AF4D3E8D11A3}"/>
              </a:ext>
            </a:extLst>
          </p:cNvPr>
          <p:cNvSpPr txBox="1"/>
          <p:nvPr/>
        </p:nvSpPr>
        <p:spPr>
          <a:xfrm>
            <a:off x="6657342" y="2482806"/>
            <a:ext cx="1075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Excavator_can2. </a:t>
            </a:r>
            <a:r>
              <a:rPr lang="en-US" altLang="ko-KR" sz="7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dbc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37B16725-DCE0-5278-0CE1-349DC097B41D}"/>
              </a:ext>
            </a:extLst>
          </p:cNvPr>
          <p:cNvCxnSpPr>
            <a:stCxn id="18" idx="2"/>
            <a:endCxn id="37" idx="0"/>
          </p:cNvCxnSpPr>
          <p:nvPr/>
        </p:nvCxnSpPr>
        <p:spPr>
          <a:xfrm rot="16200000" flipH="1">
            <a:off x="5460879" y="1256981"/>
            <a:ext cx="348570" cy="1008497"/>
          </a:xfrm>
          <a:prstGeom prst="bentConnector3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C0E156E0-4A79-AF19-7F7A-72BB70DABE4A}"/>
              </a:ext>
            </a:extLst>
          </p:cNvPr>
          <p:cNvCxnSpPr>
            <a:cxnSpLocks/>
            <a:stCxn id="18" idx="2"/>
            <a:endCxn id="39" idx="0"/>
          </p:cNvCxnSpPr>
          <p:nvPr/>
        </p:nvCxnSpPr>
        <p:spPr>
          <a:xfrm rot="16200000" flipH="1">
            <a:off x="5978810" y="739051"/>
            <a:ext cx="348570" cy="2044358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그래픽 49" descr="데이터베이스 윤곽선">
            <a:extLst>
              <a:ext uri="{FF2B5EF4-FFF2-40B4-BE49-F238E27FC236}">
                <a16:creationId xmlns:a16="http://schemas.microsoft.com/office/drawing/2014/main" id="{7B8860B6-F764-3F31-9C77-93F0A5B41D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7269" y="2743895"/>
            <a:ext cx="547291" cy="547291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D8E3B1D1-9BD6-1B9D-F189-0FA4C7FEC5BC}"/>
              </a:ext>
            </a:extLst>
          </p:cNvPr>
          <p:cNvSpPr txBox="1"/>
          <p:nvPr/>
        </p:nvSpPr>
        <p:spPr>
          <a:xfrm>
            <a:off x="4528826" y="3291186"/>
            <a:ext cx="12041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WheelLoader_can0. </a:t>
            </a:r>
            <a:r>
              <a:rPr lang="en-US" altLang="ko-KR" sz="7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dbc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pic>
        <p:nvPicPr>
          <p:cNvPr id="52" name="그래픽 51" descr="데이터베이스 윤곽선">
            <a:extLst>
              <a:ext uri="{FF2B5EF4-FFF2-40B4-BE49-F238E27FC236}">
                <a16:creationId xmlns:a16="http://schemas.microsoft.com/office/drawing/2014/main" id="{11EEF980-4CFF-3964-8C52-22847870A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5767" y="2743895"/>
            <a:ext cx="547291" cy="547291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5D01F59C-C92C-046E-7076-1AB0074FC708}"/>
              </a:ext>
            </a:extLst>
          </p:cNvPr>
          <p:cNvSpPr txBox="1"/>
          <p:nvPr/>
        </p:nvSpPr>
        <p:spPr>
          <a:xfrm>
            <a:off x="5557361" y="3291186"/>
            <a:ext cx="12041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WheelLoader_can1. </a:t>
            </a:r>
            <a:r>
              <a:rPr lang="en-US" altLang="ko-KR" sz="7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dbc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pic>
        <p:nvPicPr>
          <p:cNvPr id="54" name="그래픽 53" descr="데이터베이스 윤곽선">
            <a:extLst>
              <a:ext uri="{FF2B5EF4-FFF2-40B4-BE49-F238E27FC236}">
                <a16:creationId xmlns:a16="http://schemas.microsoft.com/office/drawing/2014/main" id="{DC72F991-A555-1B43-17EB-94A8EA1E26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1628" y="2743895"/>
            <a:ext cx="547291" cy="54729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F297319-9630-47F9-5233-24FEFDC0DB47}"/>
              </a:ext>
            </a:extLst>
          </p:cNvPr>
          <p:cNvSpPr txBox="1"/>
          <p:nvPr/>
        </p:nvSpPr>
        <p:spPr>
          <a:xfrm>
            <a:off x="6593222" y="3291186"/>
            <a:ext cx="12041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WheelLoader_can2. </a:t>
            </a:r>
            <a:r>
              <a:rPr lang="en-US" altLang="ko-KR" sz="7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dbc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4C080192-546D-E683-6486-475B1EEE78A0}"/>
              </a:ext>
            </a:extLst>
          </p:cNvPr>
          <p:cNvCxnSpPr>
            <a:cxnSpLocks/>
            <a:stCxn id="13" idx="3"/>
            <a:endCxn id="31" idx="1"/>
          </p:cNvCxnSpPr>
          <p:nvPr/>
        </p:nvCxnSpPr>
        <p:spPr>
          <a:xfrm>
            <a:off x="2522230" y="2209161"/>
            <a:ext cx="2335039" cy="1270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7F6171CE-8416-30E9-C958-599C5F51E962}"/>
              </a:ext>
            </a:extLst>
          </p:cNvPr>
          <p:cNvCxnSpPr>
            <a:cxnSpLocks/>
            <a:stCxn id="13" idx="3"/>
            <a:endCxn id="50" idx="1"/>
          </p:cNvCxnSpPr>
          <p:nvPr/>
        </p:nvCxnSpPr>
        <p:spPr>
          <a:xfrm>
            <a:off x="2522230" y="2209161"/>
            <a:ext cx="2335039" cy="80838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그래픽 65" descr="문서 윤곽선">
            <a:extLst>
              <a:ext uri="{FF2B5EF4-FFF2-40B4-BE49-F238E27FC236}">
                <a16:creationId xmlns:a16="http://schemas.microsoft.com/office/drawing/2014/main" id="{1D5ADC36-C4C2-4DA0-9D2B-9DA34E7357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72958" y="1639730"/>
            <a:ext cx="914400" cy="9144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8392DDA3-5F60-790F-1BD2-920DE8B36B48}"/>
              </a:ext>
            </a:extLst>
          </p:cNvPr>
          <p:cNvSpPr txBox="1"/>
          <p:nvPr/>
        </p:nvSpPr>
        <p:spPr>
          <a:xfrm>
            <a:off x="8657618" y="2482806"/>
            <a:ext cx="128753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Overaly_J1939_exc.vspec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DA5173E6-C5A8-B2FE-C114-02B4F2FD4FE7}"/>
              </a:ext>
            </a:extLst>
          </p:cNvPr>
          <p:cNvCxnSpPr>
            <a:cxnSpLocks/>
          </p:cNvCxnSpPr>
          <p:nvPr/>
        </p:nvCxnSpPr>
        <p:spPr>
          <a:xfrm flipV="1">
            <a:off x="7433322" y="2128630"/>
            <a:ext cx="1339636" cy="80531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그래픽 70" descr="문서 윤곽선">
            <a:extLst>
              <a:ext uri="{FF2B5EF4-FFF2-40B4-BE49-F238E27FC236}">
                <a16:creationId xmlns:a16="http://schemas.microsoft.com/office/drawing/2014/main" id="{1445E018-A805-67E4-43C7-2E551EF896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72958" y="2827775"/>
            <a:ext cx="914400" cy="9144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C52DF12E-86F3-077A-5C2E-FE40F58F4063}"/>
              </a:ext>
            </a:extLst>
          </p:cNvPr>
          <p:cNvSpPr txBox="1"/>
          <p:nvPr/>
        </p:nvSpPr>
        <p:spPr>
          <a:xfrm>
            <a:off x="8657618" y="3670851"/>
            <a:ext cx="128753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Overaly_J1939_exc.vspec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328F7F66-CEB7-7651-DC34-448D41FE33AB}"/>
              </a:ext>
            </a:extLst>
          </p:cNvPr>
          <p:cNvCxnSpPr>
            <a:cxnSpLocks/>
          </p:cNvCxnSpPr>
          <p:nvPr/>
        </p:nvCxnSpPr>
        <p:spPr>
          <a:xfrm>
            <a:off x="7433320" y="3045129"/>
            <a:ext cx="1339638" cy="2398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F2DEA6A-3A3D-4495-1F7E-8F47A320F07F}"/>
              </a:ext>
            </a:extLst>
          </p:cNvPr>
          <p:cNvSpPr txBox="1"/>
          <p:nvPr/>
        </p:nvSpPr>
        <p:spPr>
          <a:xfrm>
            <a:off x="8065789" y="1920483"/>
            <a:ext cx="59182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auto-tool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FAFA5D2-6DB4-644D-457A-8B726410E5AE}"/>
              </a:ext>
            </a:extLst>
          </p:cNvPr>
          <p:cNvSpPr txBox="1"/>
          <p:nvPr/>
        </p:nvSpPr>
        <p:spPr>
          <a:xfrm>
            <a:off x="8065789" y="3097123"/>
            <a:ext cx="59182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auto-tool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pic>
        <p:nvPicPr>
          <p:cNvPr id="80" name="그래픽 79" descr="문서 윤곽선">
            <a:extLst>
              <a:ext uri="{FF2B5EF4-FFF2-40B4-BE49-F238E27FC236}">
                <a16:creationId xmlns:a16="http://schemas.microsoft.com/office/drawing/2014/main" id="{E7FBC61F-7C4B-A8EA-5869-1070B7BA8E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91385" y="4122744"/>
            <a:ext cx="914400" cy="914400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51424A8-B93B-9822-D8C6-D5BFBF751EF5}"/>
              </a:ext>
            </a:extLst>
          </p:cNvPr>
          <p:cNvSpPr txBox="1"/>
          <p:nvPr/>
        </p:nvSpPr>
        <p:spPr>
          <a:xfrm>
            <a:off x="1721038" y="4965820"/>
            <a:ext cx="10470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b="1" dirty="0" err="1">
                <a:latin typeface="HD Medium" panose="020B0600000101010101" pitchFamily="34" charset="-127"/>
                <a:ea typeface="HD Medium" panose="020B0600000101010101" pitchFamily="34" charset="-127"/>
              </a:rPr>
              <a:t>Vss_standard.vspec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pic>
        <p:nvPicPr>
          <p:cNvPr id="82" name="그래픽 81" descr="문서 윤곽선">
            <a:extLst>
              <a:ext uri="{FF2B5EF4-FFF2-40B4-BE49-F238E27FC236}">
                <a16:creationId xmlns:a16="http://schemas.microsoft.com/office/drawing/2014/main" id="{551DBE7D-715E-DCB2-74BD-66B37C04F9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91385" y="5309913"/>
            <a:ext cx="914400" cy="91440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FA8834CA-576B-EDAB-2829-7DA3A24B1B3C}"/>
              </a:ext>
            </a:extLst>
          </p:cNvPr>
          <p:cNvSpPr txBox="1"/>
          <p:nvPr/>
        </p:nvSpPr>
        <p:spPr>
          <a:xfrm>
            <a:off x="1705008" y="6152989"/>
            <a:ext cx="107914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Overlay_j1939.vspec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pic>
        <p:nvPicPr>
          <p:cNvPr id="84" name="그래픽 83" descr="문서 윤곽선">
            <a:extLst>
              <a:ext uri="{FF2B5EF4-FFF2-40B4-BE49-F238E27FC236}">
                <a16:creationId xmlns:a16="http://schemas.microsoft.com/office/drawing/2014/main" id="{531AA5E6-4EB5-8312-3E1D-189497629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5802" y="4603975"/>
            <a:ext cx="914400" cy="91440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2D4CE66C-B876-6C25-FFD7-D88B9A2C74EA}"/>
              </a:ext>
            </a:extLst>
          </p:cNvPr>
          <p:cNvSpPr txBox="1"/>
          <p:nvPr/>
        </p:nvSpPr>
        <p:spPr>
          <a:xfrm>
            <a:off x="5375372" y="5475184"/>
            <a:ext cx="71526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J1939DA.xls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FA9D6F-175C-DF84-0F28-9A6141B6E3D5}"/>
              </a:ext>
            </a:extLst>
          </p:cNvPr>
          <p:cNvCxnSpPr>
            <a:cxnSpLocks/>
          </p:cNvCxnSpPr>
          <p:nvPr/>
        </p:nvCxnSpPr>
        <p:spPr>
          <a:xfrm>
            <a:off x="6115465" y="5111387"/>
            <a:ext cx="1315989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ACF11B0E-12B6-0E71-657C-2647B3C1AF9A}"/>
              </a:ext>
            </a:extLst>
          </p:cNvPr>
          <p:cNvSpPr txBox="1"/>
          <p:nvPr/>
        </p:nvSpPr>
        <p:spPr>
          <a:xfrm>
            <a:off x="6236393" y="4860741"/>
            <a:ext cx="95891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Pretty_j1939.json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  <p:pic>
        <p:nvPicPr>
          <p:cNvPr id="89" name="그래픽 88" descr="문서 윤곽선">
            <a:extLst>
              <a:ext uri="{FF2B5EF4-FFF2-40B4-BE49-F238E27FC236}">
                <a16:creationId xmlns:a16="http://schemas.microsoft.com/office/drawing/2014/main" id="{5830BFD9-0AED-E7AF-53CF-FA57B0C58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8919" y="4603975"/>
            <a:ext cx="914400" cy="91440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CF289033-8C8C-32A2-B564-14EAB2234808}"/>
              </a:ext>
            </a:extLst>
          </p:cNvPr>
          <p:cNvSpPr txBox="1"/>
          <p:nvPr/>
        </p:nvSpPr>
        <p:spPr>
          <a:xfrm>
            <a:off x="7516429" y="5475184"/>
            <a:ext cx="77938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b="1" dirty="0">
                <a:latin typeface="HD Medium" panose="020B0600000101010101" pitchFamily="34" charset="-127"/>
                <a:ea typeface="HD Medium" panose="020B0600000101010101" pitchFamily="34" charset="-127"/>
              </a:rPr>
              <a:t>J1939DA.json</a:t>
            </a:r>
            <a:endParaRPr lang="ko-KR" altLang="en-US" sz="700" b="1" dirty="0">
              <a:latin typeface="HD Medium" panose="020B0600000101010101" pitchFamily="34" charset="-127"/>
              <a:ea typeface="HD Medi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9427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1A042-A49C-2E32-3B52-829B69214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672EE0-04FB-548A-16CA-3A26125C9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37" y="0"/>
            <a:ext cx="261626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73B9E2-26F3-1593-28CA-14D7A91D7DC1}"/>
              </a:ext>
            </a:extLst>
          </p:cNvPr>
          <p:cNvSpPr txBox="1"/>
          <p:nvPr/>
        </p:nvSpPr>
        <p:spPr>
          <a:xfrm>
            <a:off x="2893502" y="0"/>
            <a:ext cx="4794405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my-vehicle-data-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monorepo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.git/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.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gitignore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# build/, *.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pyc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, *.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tmp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등 무시 설정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README.md                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프로젝트 사용법 및 빌드 가이드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requirements.txt            # python dependencies (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cantools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pyyaml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build.py                    # [Core]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빌드 </a:t>
            </a:r>
            <a:r>
              <a:rPr lang="ko-KR" altLang="en-US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오케스트레이터</a:t>
            </a:r>
            <a:endParaRPr lang="ko-KR" altLang="en-US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tools/                      # [Tools]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빌드 및 변환 도구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vss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-tools/              # [Git Submodule] COVESA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공식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vss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-tools (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특정 버전 고정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├── excel_to_dbc.py         # OEM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엑셀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-&gt; DBC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변환 스크립트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└──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validator.py            # </a:t>
            </a:r>
            <a:r>
              <a:rPr lang="ko-KR" altLang="en-US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매니페스트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문법 검사기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data_sources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/               # [Source]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변경되지 않는 원천 데이터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(Read-Only)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vss_core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/               # [Git Submodule] COVESA VSS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표준 저장소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(v3.0, v4.0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등 태그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checkout)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└── spec/               # (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표준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vspec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파일들 위치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├── j1939_master/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├── j1939_2023_DA.dbc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구매했거나 생성한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J1939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마스터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DBC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└── j1939_2024_DA.dbc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연도별 버전 관리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└──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oem_legacy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/          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레거시 데이터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참조용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specs/                      # [Input]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계층적 설정 정의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상속의 핵심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├── 00_common/              # [Layer 1]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전사 공통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manifest.yaml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공통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PGN(Eng, Trans),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공통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VSS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정의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common.vspec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VSS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표준에 없는 회사 공통 신호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└──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common_oem.dbc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공통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CAN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메시지 정의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├──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10_excavator/           # [Layer 2]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굴착기 제품군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manifest.yaml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굴착기 공통 설정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(Layer 1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상속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excavator.vspec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굴착기 특화 신호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(Boom, Bucket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excavator.dbc</a:t>
            </a: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│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├── diesel/             # [Layer 3]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디젤 굴착기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│   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manifest.yaml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엔진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PGN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추가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│   └──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diesel.vspec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연료탱크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요소수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관련 신호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│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└──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electric/           # [Layer 3]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전기 굴착기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    ├── </a:t>
            </a:r>
            <a:r>
              <a:rPr lang="en-US" altLang="ko-KR" sz="7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manifest.yaml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# BMS, Motor PGN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추가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       └──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ev.vspec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충전 상태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배터리 온도 관련 신호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│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└──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20_wheel_loader/        # [Layer 2] </a:t>
            </a:r>
            <a:r>
              <a:rPr lang="ko-KR" altLang="en-US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휠로더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제품군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    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manifest.yaml</a:t>
            </a: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    └── ...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build/                      # [Temp]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빌드 중간 산출물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(Git Ignore)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└── 10_excavator/           # specs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구조와 동일하게 생성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    └──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electric/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        ├── _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merged_manifest.yaml</a:t>
            </a: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        ├── _temp_j1939.dbc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           └── _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temp_oem.dbc</a:t>
            </a: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└──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dist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/                       # [Output]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최종 배포 산출물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(Deploy Target)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├── 10_excavator/           # specs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구조와 동일하게 생성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│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└──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electric/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│        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vehicle.dbc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# Final: J1939 + OEM Merged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│        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vss_tree.json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# Final: VSS Std + Common +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Exc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+ EV Overlays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│        └──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mapping.yaml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Final: Signal Mapping Rule</a:t>
            </a: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├──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20_wheel_loader/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│   └── ...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│</a:t>
            </a: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└── _catalog/                   # [Cloud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용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전체 통합 스키마    </a:t>
            </a: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unified_vss.vspec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모든 기종의 오버레이가 합쳐진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VSS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소스    </a:t>
            </a: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├── </a:t>
            </a:r>
            <a:r>
              <a:rPr lang="en-US" altLang="ko-KR" sz="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unified_vss.json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클라우드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DB/API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검증용 전체 트리    </a:t>
            </a:r>
            <a:endParaRPr lang="en-US" altLang="ko-KR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└── 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metrics_dictionary.csv  # (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선택</a:t>
            </a:r>
            <a:r>
              <a:rPr lang="en-US" altLang="ko-KR" sz="7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7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분석가를 위한 신호 사전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503108-2F29-4E4C-5887-188B869F3CDA}"/>
              </a:ext>
            </a:extLst>
          </p:cNvPr>
          <p:cNvSpPr txBox="1"/>
          <p:nvPr/>
        </p:nvSpPr>
        <p:spPr>
          <a:xfrm>
            <a:off x="7894919" y="3875262"/>
            <a:ext cx="401984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# specs/10_excavator/electric/</a:t>
            </a:r>
            <a:r>
              <a:rPr lang="en-US" altLang="ko-KR" sz="1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manifest.yaml</a:t>
            </a:r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예시</a:t>
            </a:r>
          </a:p>
          <a:p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inherits: "../"  # </a:t>
            </a:r>
            <a:r>
              <a: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상위 폴더</a:t>
            </a:r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굴착기 공통</a:t>
            </a:r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설정을 상속받음</a:t>
            </a:r>
          </a:p>
          <a:p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j1939_include:</a:t>
            </a:r>
          </a:p>
          <a:p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  - PGN: 61444 (EEC1) # </a:t>
            </a:r>
            <a:r>
              <a: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상위에 없지만 여기서 필요한 것 추가</a:t>
            </a:r>
          </a:p>
          <a:p>
            <a:r>
              <a: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- PGN: 0xEF00 (BMS) # </a:t>
            </a:r>
            <a:r>
              <a: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전기차 전용</a:t>
            </a:r>
          </a:p>
          <a:p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oem_signals</a:t>
            </a:r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  source: "./oem_spec_ev.xlsx" # </a:t>
            </a:r>
            <a:r>
              <a: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이 모델 전용 </a:t>
            </a:r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OEM </a:t>
            </a:r>
            <a:r>
              <a: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사양</a:t>
            </a:r>
          </a:p>
          <a:p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vss_overlay</a:t>
            </a:r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  - "./</a:t>
            </a:r>
            <a:r>
              <a:rPr lang="en-US" altLang="ko-KR" sz="1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ev_overlay.vspec</a:t>
            </a:r>
            <a:r>
              <a:rPr lang="en-US" altLang="ko-KR" sz="10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0099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1DC85-5996-5FA7-8996-2125F683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F6487B1-9AF7-779E-E69B-75093DF45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00" y="0"/>
            <a:ext cx="35420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500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1072</Words>
  <Application>Microsoft Office PowerPoint</Application>
  <PresentationFormat>와이드스크린</PresentationFormat>
  <Paragraphs>197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D2Coding</vt:lpstr>
      <vt:lpstr>HD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김동은 책임연구원 (HDX서비스플랫폼개발팀)</dc:creator>
  <cp:lastModifiedBy>김동은 책임연구원 (HDX서비스플랫폼개발팀)</cp:lastModifiedBy>
  <cp:revision>5</cp:revision>
  <dcterms:created xsi:type="dcterms:W3CDTF">2025-12-09T02:29:54Z</dcterms:created>
  <dcterms:modified xsi:type="dcterms:W3CDTF">2025-12-15T03:00:43Z</dcterms:modified>
</cp:coreProperties>
</file>